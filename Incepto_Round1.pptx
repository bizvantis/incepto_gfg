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3D6C81-F374-A980-F091-9EE75D4E154E}" v="25" dt="2026-02-13T03:43:17.190"/>
    <p1510:client id="{4CE263C7-E307-4E4A-BE90-43B7A6517F4D}" v="1190" dt="2026-02-12T16:57:46.972"/>
    <p1510:client id="{C0E4BFA5-C770-2DB5-D5A5-49CEF9A5DFA0}" v="319" dt="2026-02-12T14:01:44.090"/>
    <p1510:client id="{D487B7FB-68AE-74CE-8009-8095393F93B2}" v="401" dt="2026-02-12T17:34:11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FEASIBILITY ANALYSIS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FD8-4773-AEEA-13A0039B7752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EFD8-4773-AEEA-13A0039B775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FD8-4773-AEEA-13A0039B7752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EFD8-4773-AEEA-13A0039B7752}"/>
              </c:ext>
            </c:extLst>
          </c:dPt>
          <c:dLbls>
            <c:dLbl>
              <c:idx val="0"/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D8-4773-AEEA-13A0039B77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Technical </c:v>
                </c:pt>
                <c:pt idx="1">
                  <c:v>Market</c:v>
                </c:pt>
                <c:pt idx="2">
                  <c:v>Operational</c:v>
                </c:pt>
                <c:pt idx="3">
                  <c:v>Legal and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D8-4773-AEEA-13A0039B7752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C9553-E8AF-5F36-B4B3-9CEEA8E5A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FBC03-674E-FE75-4B14-74A25E64B8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3BE29-AD68-7A94-AB7D-EAAA79540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5C11-D3F2-4AB0-B6A2-777EE8176B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47D3D-604D-EE6D-A9A3-1376A5D57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76E86-FAB9-380E-6D6B-BCD9485B0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2D51-A914-4679-8806-8C660BB78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846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1F324-C221-9BAE-6315-6944DE943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0EFC6-9ED0-E08A-E6AC-E74017354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49C15-B48B-C518-1C71-E081BF7AD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5C11-D3F2-4AB0-B6A2-777EE8176B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0C626-D735-C1D8-9413-2EB52DC25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B7C11-B44B-F35E-52CD-5C35BF069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2D51-A914-4679-8806-8C660BB78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651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2DE52-DFB8-DCF8-A50A-8B20E0E54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86F9F-A016-F555-55A3-7E9D4C96F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67E85-6D13-D0E0-E4C4-CF594219D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5C11-D3F2-4AB0-B6A2-777EE8176B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ECD3E-2126-1EAA-99FF-E0BF1D3C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E1AE9-7F61-47D1-B66D-6056B5C46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2D51-A914-4679-8806-8C660BB78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658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7E54C-CF09-55FA-7FB9-82DE22B32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7B033-0BD1-7D3C-3FEF-BFB6C57443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4410C-C75B-ACE9-D45F-7A280D363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85CC6-3254-DF68-86A3-A12D4CCEC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5C11-D3F2-4AB0-B6A2-777EE8176B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B86E2-EED2-0DC9-DACA-9A6212003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8D69E-715C-7E9F-A9EB-AC3FA29CB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2D51-A914-4679-8806-8C660BB78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257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547CA-3323-930F-C73E-A8C8D2F58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CA59F-5D26-7515-E7FC-86CC30C3D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B1070-B89F-EED2-2D7D-E123B3151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CD73A-9B94-B074-8FB0-F6226429F4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BC2207-87AB-45F9-6914-67A64AC93D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901B92-8B08-1BDB-ACE5-021FFDFB7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5C11-D3F2-4AB0-B6A2-777EE8176B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3F187-3B52-44CB-43D4-D8E47FA7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D070C-BEF4-8441-5A03-DA4B805D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2D51-A914-4679-8806-8C660BB78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910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2C54-DCE1-5B12-0E23-C0F3FE292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86E5F-8841-25F4-5A31-B679FDEC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5C11-D3F2-4AB0-B6A2-777EE8176B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0CB32E-79A6-63E7-22BD-C8E220946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CE031-B81A-C243-302F-BB8F6CAC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2D51-A914-4679-8806-8C660BB78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89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9B22E-5B41-5722-D9D3-F0A05CF6D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5C11-D3F2-4AB0-B6A2-777EE8176B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AA937B-E64D-3A1C-103B-83280844C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487C7-E35A-32E8-D5EF-12493242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2D51-A914-4679-8806-8C660BB78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39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13152-4FFA-D60C-C8EC-21B902C21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D2158-30A0-C1D0-F660-B1D7824A2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AA9D49-5B4D-89B5-35B9-445F9E5DD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96F49-FFA1-B10F-3A38-4D2D88251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5C11-D3F2-4AB0-B6A2-777EE8176B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CC40A-A97D-D90C-E1C6-3C2E0D3E5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190BD-0DE3-48A9-93A1-144DEB23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2D51-A914-4679-8806-8C660BB78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553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5888-0F7E-EAA0-509B-2F5E079FE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3C288B-B67A-3F78-81B4-DD9CD7AF92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B378C-6FE7-5186-7888-BBD982C6D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4AEC3-54A9-EC51-E136-87EB66276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5C11-D3F2-4AB0-B6A2-777EE8176B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58E12-FC0D-FD33-83AC-070CD76E3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DE521-2218-FD0F-1955-44FA8775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2D51-A914-4679-8806-8C660BB78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644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5744D-E12F-30F6-04A3-0762515D9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699D3-288F-00CC-AF9F-1530B7F5F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DFA4D-A803-13B5-1528-2A42834AB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5C11-D3F2-4AB0-B6A2-777EE8176B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5CD0C-3A9E-C948-DC02-109962A52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46B6C-3AF2-FA0E-A390-6F09463DC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2D51-A914-4679-8806-8C660BB78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029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C56F0A-A5FE-3624-BD43-9DEFC48108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67909-6A34-28AF-77C7-D658205E3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91BD1-5003-A81A-EE7E-7D04BACCB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5C11-D3F2-4AB0-B6A2-777EE8176B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4B28A-DFFB-20F3-5A9D-DF438222F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E11BF-8B74-E2E1-F8C3-AA6A644AB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C2D51-A914-4679-8806-8C660BB78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28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11B000-F96E-FE32-314B-250C08F04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8BE83-5F2F-8E89-957E-0DC017152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DB701-FCC3-3551-4FAC-09DAD19967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A5C11-D3F2-4AB0-B6A2-777EE8176B31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6B064-3D61-CDB8-6F91-1C14BE238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9A3EE-7B85-A98A-3FE6-2B6C33409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C2D51-A914-4679-8806-8C660BB78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561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lochana.org/wp-content/uploads/37-AJ2451.pdf" TargetMode="External"/><Relationship Id="rId2" Type="http://schemas.openxmlformats.org/officeDocument/2006/relationships/hyperlink" Target="https://doi.org/10.70792/jngr5.0.v1i2.89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i.org/10.3390/fi17030100" TargetMode="External"/><Relationship Id="rId4" Type="http://schemas.openxmlformats.org/officeDocument/2006/relationships/hyperlink" Target="https://doi.org/10.48550/arxiv.2505.1079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1C4FDBE2-32F7-4AC4-A40C-C51C65B1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B77911-EB8B-B80C-7291-938957284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3933" y="3827844"/>
            <a:ext cx="6766405" cy="1168188"/>
          </a:xfrm>
        </p:spPr>
        <p:txBody>
          <a:bodyPr>
            <a:normAutofit/>
          </a:bodyPr>
          <a:lstStyle/>
          <a:p>
            <a:r>
              <a:rPr lang="en-IN" b="1" dirty="0" err="1">
                <a:solidFill>
                  <a:srgbClr val="FFFFFE"/>
                </a:solidFill>
                <a:ea typeface="+mj-lt"/>
                <a:cs typeface="+mj-lt"/>
              </a:rPr>
              <a:t>ReguGuard</a:t>
            </a:r>
            <a:r>
              <a:rPr lang="en-IN" b="1" dirty="0">
                <a:solidFill>
                  <a:srgbClr val="FFFFFE"/>
                </a:solidFill>
                <a:ea typeface="+mj-lt"/>
                <a:cs typeface="+mj-lt"/>
              </a:rPr>
              <a:t> AI</a:t>
            </a:r>
            <a:endParaRPr lang="en-US" b="1" dirty="0">
              <a:solidFill>
                <a:srgbClr val="FFFFFE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BF4792E-DF83-4D24-9924-01EC30A32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8512"/>
            <a:ext cx="3952259" cy="5932172"/>
          </a:xfrm>
          <a:custGeom>
            <a:avLst/>
            <a:gdLst>
              <a:gd name="connsiteX0" fmla="*/ 986173 w 3952259"/>
              <a:gd name="connsiteY0" fmla="*/ 0 h 5932172"/>
              <a:gd name="connsiteX1" fmla="*/ 3952259 w 3952259"/>
              <a:gd name="connsiteY1" fmla="*/ 2966086 h 5932172"/>
              <a:gd name="connsiteX2" fmla="*/ 986173 w 3952259"/>
              <a:gd name="connsiteY2" fmla="*/ 5932172 h 5932172"/>
              <a:gd name="connsiteX3" fmla="*/ 104150 w 3952259"/>
              <a:gd name="connsiteY3" fmla="*/ 5798823 h 5932172"/>
              <a:gd name="connsiteX4" fmla="*/ 0 w 3952259"/>
              <a:gd name="connsiteY4" fmla="*/ 5760704 h 5932172"/>
              <a:gd name="connsiteX5" fmla="*/ 0 w 3952259"/>
              <a:gd name="connsiteY5" fmla="*/ 171469 h 5932172"/>
              <a:gd name="connsiteX6" fmla="*/ 104150 w 3952259"/>
              <a:gd name="connsiteY6" fmla="*/ 133350 h 5932172"/>
              <a:gd name="connsiteX7" fmla="*/ 986173 w 3952259"/>
              <a:gd name="connsiteY7" fmla="*/ 0 h 5932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2259" h="5932172">
                <a:moveTo>
                  <a:pt x="986173" y="0"/>
                </a:moveTo>
                <a:cubicBezTo>
                  <a:pt x="2624297" y="0"/>
                  <a:pt x="3952259" y="1327962"/>
                  <a:pt x="3952259" y="2966086"/>
                </a:cubicBezTo>
                <a:cubicBezTo>
                  <a:pt x="3952259" y="4604210"/>
                  <a:pt x="2624297" y="5932172"/>
                  <a:pt x="986173" y="5932172"/>
                </a:cubicBezTo>
                <a:cubicBezTo>
                  <a:pt x="679025" y="5932172"/>
                  <a:pt x="382781" y="5885486"/>
                  <a:pt x="104150" y="5798823"/>
                </a:cubicBezTo>
                <a:lnTo>
                  <a:pt x="0" y="5760704"/>
                </a:lnTo>
                <a:lnTo>
                  <a:pt x="0" y="171469"/>
                </a:lnTo>
                <a:lnTo>
                  <a:pt x="104150" y="133350"/>
                </a:lnTo>
                <a:cubicBezTo>
                  <a:pt x="382781" y="46686"/>
                  <a:pt x="679025" y="0"/>
                  <a:pt x="9861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5837328-A57C-47AA-B520-C83F4A6BD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8125" y="0"/>
            <a:ext cx="4475748" cy="3256337"/>
          </a:xfrm>
          <a:custGeom>
            <a:avLst/>
            <a:gdLst>
              <a:gd name="connsiteX0" fmla="*/ 246861 w 4475748"/>
              <a:gd name="connsiteY0" fmla="*/ 0 h 3256337"/>
              <a:gd name="connsiteX1" fmla="*/ 4228888 w 4475748"/>
              <a:gd name="connsiteY1" fmla="*/ 0 h 3256337"/>
              <a:gd name="connsiteX2" fmla="*/ 4299885 w 4475748"/>
              <a:gd name="connsiteY2" fmla="*/ 147382 h 3256337"/>
              <a:gd name="connsiteX3" fmla="*/ 4475748 w 4475748"/>
              <a:gd name="connsiteY3" fmla="*/ 1018463 h 3256337"/>
              <a:gd name="connsiteX4" fmla="*/ 2237874 w 4475748"/>
              <a:gd name="connsiteY4" fmla="*/ 3256337 h 3256337"/>
              <a:gd name="connsiteX5" fmla="*/ 0 w 4475748"/>
              <a:gd name="connsiteY5" fmla="*/ 1018463 h 3256337"/>
              <a:gd name="connsiteX6" fmla="*/ 175863 w 4475748"/>
              <a:gd name="connsiteY6" fmla="*/ 147382 h 3256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5748" h="3256337">
                <a:moveTo>
                  <a:pt x="246861" y="0"/>
                </a:moveTo>
                <a:lnTo>
                  <a:pt x="4228888" y="0"/>
                </a:lnTo>
                <a:lnTo>
                  <a:pt x="4299885" y="147382"/>
                </a:lnTo>
                <a:cubicBezTo>
                  <a:pt x="4413128" y="415117"/>
                  <a:pt x="4475748" y="709477"/>
                  <a:pt x="4475748" y="1018463"/>
                </a:cubicBezTo>
                <a:cubicBezTo>
                  <a:pt x="4475748" y="2254407"/>
                  <a:pt x="3473818" y="3256337"/>
                  <a:pt x="2237874" y="3256337"/>
                </a:cubicBezTo>
                <a:cubicBezTo>
                  <a:pt x="1001930" y="3256337"/>
                  <a:pt x="0" y="2254407"/>
                  <a:pt x="0" y="1018463"/>
                </a:cubicBezTo>
                <a:cubicBezTo>
                  <a:pt x="0" y="709477"/>
                  <a:pt x="62621" y="415117"/>
                  <a:pt x="175863" y="14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580241">
            <a:off x="-1784401" y="613620"/>
            <a:ext cx="6199926" cy="6199926"/>
          </a:xfrm>
          <a:prstGeom prst="arc">
            <a:avLst>
              <a:gd name="adj1" fmla="val 14455503"/>
              <a:gd name="adj2" fmla="val 18389131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artoon of a robot&#10;&#10;AI-generated content may be incorrect.">
            <a:extLst>
              <a:ext uri="{FF2B5EF4-FFF2-40B4-BE49-F238E27FC236}">
                <a16:creationId xmlns:a16="http://schemas.microsoft.com/office/drawing/2014/main" id="{F7035E6F-CF07-4569-FBEF-43108DCF1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33" y="1876659"/>
            <a:ext cx="2972955" cy="2972955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B78B1C-9179-BB60-0DDE-B4F464A83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980" y="133707"/>
            <a:ext cx="2488039" cy="2488039"/>
          </a:xfrm>
          <a:custGeom>
            <a:avLst/>
            <a:gdLst/>
            <a:ahLst/>
            <a:cxnLst/>
            <a:rect l="l" t="t" r="r" b="b"/>
            <a:pathLst>
              <a:path w="2487175" h="2487175">
                <a:moveTo>
                  <a:pt x="67328" y="0"/>
                </a:moveTo>
                <a:lnTo>
                  <a:pt x="2419847" y="0"/>
                </a:lnTo>
                <a:cubicBezTo>
                  <a:pt x="2457031" y="0"/>
                  <a:pt x="2487175" y="30144"/>
                  <a:pt x="2487175" y="67328"/>
                </a:cubicBezTo>
                <a:lnTo>
                  <a:pt x="2487175" y="2419847"/>
                </a:lnTo>
                <a:cubicBezTo>
                  <a:pt x="2487175" y="2457031"/>
                  <a:pt x="2457031" y="2487175"/>
                  <a:pt x="2419847" y="2487175"/>
                </a:cubicBezTo>
                <a:lnTo>
                  <a:pt x="67328" y="2487175"/>
                </a:lnTo>
                <a:cubicBezTo>
                  <a:pt x="30144" y="2487175"/>
                  <a:pt x="0" y="2457031"/>
                  <a:pt x="0" y="2419847"/>
                </a:cubicBezTo>
                <a:lnTo>
                  <a:pt x="0" y="67328"/>
                </a:lnTo>
                <a:cubicBezTo>
                  <a:pt x="0" y="30144"/>
                  <a:pt x="30144" y="0"/>
                  <a:pt x="67328" y="0"/>
                </a:cubicBezTo>
                <a:close/>
              </a:path>
            </a:pathLst>
          </a:cu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A03A6A2-7849-4179-B68F-C11DDDB23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1078" y="0"/>
            <a:ext cx="3440922" cy="3674631"/>
          </a:xfrm>
          <a:custGeom>
            <a:avLst/>
            <a:gdLst>
              <a:gd name="connsiteX0" fmla="*/ 523074 w 3440922"/>
              <a:gd name="connsiteY0" fmla="*/ 0 h 3674631"/>
              <a:gd name="connsiteX1" fmla="*/ 3440922 w 3440922"/>
              <a:gd name="connsiteY1" fmla="*/ 0 h 3674631"/>
              <a:gd name="connsiteX2" fmla="*/ 3440922 w 3440922"/>
              <a:gd name="connsiteY2" fmla="*/ 3321701 h 3674631"/>
              <a:gd name="connsiteX3" fmla="*/ 3304578 w 3440922"/>
              <a:gd name="connsiteY3" fmla="*/ 3404532 h 3674631"/>
              <a:gd name="connsiteX4" fmla="*/ 2237874 w 3440922"/>
              <a:gd name="connsiteY4" fmla="*/ 3674631 h 3674631"/>
              <a:gd name="connsiteX5" fmla="*/ 0 w 3440922"/>
              <a:gd name="connsiteY5" fmla="*/ 1436757 h 3674631"/>
              <a:gd name="connsiteX6" fmla="*/ 511022 w 3440922"/>
              <a:gd name="connsiteY6" fmla="*/ 13261 h 3674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40922" h="3674631">
                <a:moveTo>
                  <a:pt x="523074" y="0"/>
                </a:moveTo>
                <a:lnTo>
                  <a:pt x="3440922" y="0"/>
                </a:lnTo>
                <a:lnTo>
                  <a:pt x="3440922" y="3321701"/>
                </a:lnTo>
                <a:lnTo>
                  <a:pt x="3304578" y="3404532"/>
                </a:lnTo>
                <a:cubicBezTo>
                  <a:pt x="2987486" y="3576786"/>
                  <a:pt x="2624107" y="3674631"/>
                  <a:pt x="2237874" y="3674631"/>
                </a:cubicBezTo>
                <a:cubicBezTo>
                  <a:pt x="1001930" y="3674631"/>
                  <a:pt x="0" y="2672701"/>
                  <a:pt x="0" y="1436757"/>
                </a:cubicBezTo>
                <a:cubicBezTo>
                  <a:pt x="0" y="896032"/>
                  <a:pt x="191776" y="400098"/>
                  <a:pt x="511022" y="1326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blue and green brain&#10;&#10;AI-generated content may be incorrect.">
            <a:extLst>
              <a:ext uri="{FF2B5EF4-FFF2-40B4-BE49-F238E27FC236}">
                <a16:creationId xmlns:a16="http://schemas.microsoft.com/office/drawing/2014/main" id="{AA89A8BC-3BC6-5726-2B25-3E43ABFED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2995" y="407063"/>
            <a:ext cx="2378947" cy="237894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926249-FA54-3C3A-D891-04E61E058771}"/>
              </a:ext>
            </a:extLst>
          </p:cNvPr>
          <p:cNvSpPr txBox="1"/>
          <p:nvPr/>
        </p:nvSpPr>
        <p:spPr>
          <a:xfrm>
            <a:off x="9542995" y="5955407"/>
            <a:ext cx="2542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Bahnschrift Light SemiCondensed" panose="020B0502040204020203" pitchFamily="34" charset="0"/>
              </a:rPr>
              <a:t>TEAM - </a:t>
            </a:r>
            <a:r>
              <a:rPr lang="en-IN" sz="2400" b="1" dirty="0" err="1">
                <a:solidFill>
                  <a:schemeClr val="bg1"/>
                </a:solidFill>
                <a:latin typeface="Bahnschrift Light SemiCondensed" panose="020B0502040204020203" pitchFamily="34" charset="0"/>
              </a:rPr>
              <a:t>HaCS</a:t>
            </a:r>
            <a:endParaRPr lang="en-IN" sz="2400" b="1" dirty="0">
              <a:solidFill>
                <a:schemeClr val="bg1"/>
              </a:solidFill>
              <a:latin typeface="Bahnschrift Ligh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965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5FD9-3A92-C8CC-687C-235899130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255" y="418787"/>
            <a:ext cx="10515600" cy="456240"/>
          </a:xfrm>
        </p:spPr>
        <p:txBody>
          <a:bodyPr>
            <a:normAutofit fontScale="90000"/>
          </a:bodyPr>
          <a:lstStyle/>
          <a:p>
            <a:r>
              <a:rPr lang="en-IN" sz="3200">
                <a:latin typeface="Bahnschrift SemiCondensed"/>
                <a:ea typeface="+mj-lt"/>
                <a:cs typeface="+mj-lt"/>
              </a:rPr>
              <a:t>The problem - The "Compliance Debt"</a:t>
            </a:r>
            <a:endParaRPr lang="en-US" sz="3200">
              <a:latin typeface="Bahnschrift SemiCondense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DD65A-DF6B-9776-8F0D-77FC0DB9A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638" y="3134976"/>
            <a:ext cx="6201176" cy="346054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2000">
                <a:latin typeface="Bahnschrift SemiCondensed"/>
                <a:ea typeface="+mn-lt"/>
                <a:cs typeface="+mn-lt"/>
              </a:rPr>
              <a:t>The laws change more quickly than people can keep up with them, modern compliance is failing, resulting in "Compliance Debt."</a:t>
            </a:r>
            <a:endParaRPr lang="en-US"/>
          </a:p>
          <a:p>
            <a:r>
              <a:rPr lang="en-IN" sz="2000">
                <a:latin typeface="Bahnschrift SemiCondensed"/>
                <a:ea typeface="+mn-lt"/>
                <a:cs typeface="+mn-lt"/>
              </a:rPr>
              <a:t> Companies today are reactive, finding legal violations only after they have already occurred. This results in a significant amount of manual </a:t>
            </a:r>
            <a:r>
              <a:rPr lang="en-IN" sz="2000" err="1">
                <a:latin typeface="Bahnschrift SemiCondensed"/>
                <a:ea typeface="+mn-lt"/>
                <a:cs typeface="+mn-lt"/>
              </a:rPr>
              <a:t>labor</a:t>
            </a:r>
            <a:r>
              <a:rPr lang="en-IN" sz="2000">
                <a:latin typeface="Bahnschrift SemiCondensed"/>
                <a:ea typeface="+mn-lt"/>
                <a:cs typeface="+mn-lt"/>
              </a:rPr>
              <a:t> and a high risk of legal action.</a:t>
            </a:r>
            <a:endParaRPr lang="en-IN"/>
          </a:p>
          <a:p>
            <a:r>
              <a:rPr lang="en-IN" sz="2000">
                <a:latin typeface="Bahnschrift SemiCondensed"/>
                <a:ea typeface="+mn-lt"/>
                <a:cs typeface="+mn-lt"/>
              </a:rPr>
              <a:t>In summary, we are switching from laborious, manual audits to a continuous, self-governing system that stops legal errors before they happen.</a:t>
            </a:r>
            <a:endParaRPr lang="en-IN" sz="2000">
              <a:latin typeface="Bahnschrift SemiCondensed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B05FEF-96A6-1264-0B2E-B615FB9BEFC2}"/>
              </a:ext>
            </a:extLst>
          </p:cNvPr>
          <p:cNvSpPr/>
          <p:nvPr/>
        </p:nvSpPr>
        <p:spPr>
          <a:xfrm>
            <a:off x="5836342" y="1000926"/>
            <a:ext cx="5834978" cy="1559391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latin typeface="Bahnschrift SemiBold"/>
                <a:ea typeface="+mn-lt"/>
                <a:cs typeface="+mn-lt"/>
              </a:rPr>
              <a:t>The total expense and risk incurred by a business when it is unable to stay up to date with new laws, rules, or internal policies is known as compliance debt</a:t>
            </a:r>
            <a:endParaRPr lang="en-US" sz="2000" b="1">
              <a:latin typeface="Bahnschrift SemiBold"/>
            </a:endParaRPr>
          </a:p>
        </p:txBody>
      </p:sp>
      <p:sp>
        <p:nvSpPr>
          <p:cNvPr id="5" name="Thought Bubble: Cloud 4">
            <a:extLst>
              <a:ext uri="{FF2B5EF4-FFF2-40B4-BE49-F238E27FC236}">
                <a16:creationId xmlns:a16="http://schemas.microsoft.com/office/drawing/2014/main" id="{A46A0565-CB97-11F1-A37D-F28D7F4934C7}"/>
              </a:ext>
            </a:extLst>
          </p:cNvPr>
          <p:cNvSpPr/>
          <p:nvPr/>
        </p:nvSpPr>
        <p:spPr>
          <a:xfrm>
            <a:off x="773085" y="1006004"/>
            <a:ext cx="3523965" cy="1427583"/>
          </a:xfrm>
          <a:prstGeom prst="cloudCallou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Bahnschrift SemiBold"/>
                <a:ea typeface="Calibri"/>
                <a:cs typeface="Calibri"/>
              </a:rPr>
              <a:t>What is compliance Debt ?</a:t>
            </a:r>
            <a:endParaRPr lang="en-US" sz="2000" b="1">
              <a:solidFill>
                <a:schemeClr val="tx1"/>
              </a:solidFill>
              <a:latin typeface="Bahnschrift SemiBold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7CEC1FA-C2E9-CA0E-8614-B7033F2D0AA3}"/>
              </a:ext>
            </a:extLst>
          </p:cNvPr>
          <p:cNvSpPr/>
          <p:nvPr/>
        </p:nvSpPr>
        <p:spPr>
          <a:xfrm>
            <a:off x="4431113" y="1652018"/>
            <a:ext cx="1188835" cy="26247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ic of a document with a shield and a gavel&#10;&#10;AI-generated content may be incorrect.">
            <a:extLst>
              <a:ext uri="{FF2B5EF4-FFF2-40B4-BE49-F238E27FC236}">
                <a16:creationId xmlns:a16="http://schemas.microsoft.com/office/drawing/2014/main" id="{F794B383-A6D7-57ED-61B4-56DFA6C8A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4642" y="2890233"/>
            <a:ext cx="1775139" cy="1753675"/>
          </a:xfrm>
          <a:prstGeom prst="rect">
            <a:avLst/>
          </a:prstGeom>
        </p:spPr>
      </p:pic>
      <p:pic>
        <p:nvPicPr>
          <p:cNvPr id="8" name="Picture 7" descr="A handshake and a book&#10;&#10;AI-generated content may be incorrect.">
            <a:extLst>
              <a:ext uri="{FF2B5EF4-FFF2-40B4-BE49-F238E27FC236}">
                <a16:creationId xmlns:a16="http://schemas.microsoft.com/office/drawing/2014/main" id="{27BD2FE2-D4C5-F97B-C5F2-33A243CD8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389" y="4864994"/>
            <a:ext cx="1667815" cy="15819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02691F-BCA8-BE4F-7D2D-F727EDA3E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1628" y="2890233"/>
            <a:ext cx="1657082" cy="15712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8A01B5-80E0-9D87-710E-4C3C872FE2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487" y="4854262"/>
            <a:ext cx="1635618" cy="159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352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0C50-F7EF-D368-DE1C-59E93EC8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173" y="289998"/>
            <a:ext cx="2788276" cy="456239"/>
          </a:xfrm>
        </p:spPr>
        <p:txBody>
          <a:bodyPr>
            <a:normAutofit/>
          </a:bodyPr>
          <a:lstStyle/>
          <a:p>
            <a:r>
              <a:rPr lang="en-IN" sz="2400">
                <a:latin typeface="Bahnschrift SemiCondensed"/>
                <a:ea typeface="Calibri Light"/>
                <a:cs typeface="Calibri Light"/>
              </a:rPr>
              <a:t>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59EAF-DE7F-5D74-22C7-D0E1740C3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8205" y="430703"/>
            <a:ext cx="4258615" cy="4769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600">
                <a:latin typeface="Bahnschrift SemiCondensed"/>
                <a:ea typeface="Calibri"/>
                <a:cs typeface="Calibri"/>
              </a:rPr>
              <a:t>What's being solved 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7B183B-CBD7-35E9-6E4C-6D55459D4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757633"/>
              </p:ext>
            </p:extLst>
          </p:nvPr>
        </p:nvGraphicFramePr>
        <p:xfrm>
          <a:off x="6460901" y="1159098"/>
          <a:ext cx="5334381" cy="520363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78127">
                  <a:extLst>
                    <a:ext uri="{9D8B030D-6E8A-4147-A177-3AD203B41FA5}">
                      <a16:colId xmlns:a16="http://schemas.microsoft.com/office/drawing/2014/main" val="1579242731"/>
                    </a:ext>
                  </a:extLst>
                </a:gridCol>
                <a:gridCol w="1778127">
                  <a:extLst>
                    <a:ext uri="{9D8B030D-6E8A-4147-A177-3AD203B41FA5}">
                      <a16:colId xmlns:a16="http://schemas.microsoft.com/office/drawing/2014/main" val="3401744909"/>
                    </a:ext>
                  </a:extLst>
                </a:gridCol>
                <a:gridCol w="1778127">
                  <a:extLst>
                    <a:ext uri="{9D8B030D-6E8A-4147-A177-3AD203B41FA5}">
                      <a16:colId xmlns:a16="http://schemas.microsoft.com/office/drawing/2014/main" val="1975876441"/>
                    </a:ext>
                  </a:extLst>
                </a:gridCol>
              </a:tblGrid>
              <a:tr h="89834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effectLst/>
                          <a:latin typeface="Bahnschrift SemiCondensed"/>
                        </a:rPr>
                        <a:t>Feature</a:t>
                      </a:r>
                      <a:endParaRPr lang="en-US">
                        <a:effectLst/>
                        <a:latin typeface="Bahnschrift SemiCondensed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effectLst/>
                          <a:latin typeface="Bahnschrift SemiCondensed"/>
                        </a:rPr>
                        <a:t>Traditional Legal Software</a:t>
                      </a:r>
                      <a:endParaRPr lang="en-US">
                        <a:effectLst/>
                        <a:latin typeface="Bahnschrift SemiCondensed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err="1">
                          <a:effectLst/>
                        </a:rPr>
                        <a:t>ReguGuardAI</a:t>
                      </a:r>
                      <a:r>
                        <a:rPr lang="en-US" b="1">
                          <a:effectLst/>
                          <a:latin typeface="Bahnschrift SemiCondensed"/>
                        </a:rPr>
                        <a:t>  (Agentic AI)</a:t>
                      </a:r>
                      <a:endParaRPr lang="en-US">
                        <a:effectLst/>
                        <a:latin typeface="Bahnschrift SemiCondensed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863376"/>
                  </a:ext>
                </a:extLst>
              </a:tr>
              <a:tr h="89834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effectLst/>
                          <a:latin typeface="Bahnschrift SemiCondensed"/>
                        </a:rPr>
                        <a:t>Pace</a:t>
                      </a:r>
                      <a:endParaRPr lang="en-US">
                        <a:effectLst/>
                        <a:latin typeface="Bahnschrift SemiCondensed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effectLst/>
                          <a:latin typeface="Bahnschrift SemiCondensed"/>
                        </a:rPr>
                        <a:t>Periodic / Manual Updates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effectLst/>
                          <a:latin typeface="Bahnschrift SemiCondensed"/>
                        </a:rPr>
                        <a:t>Instant / Continuous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829654"/>
                  </a:ext>
                </a:extLst>
              </a:tr>
              <a:tr h="12542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effectLst/>
                          <a:latin typeface="Bahnschrift SemiCondensed"/>
                        </a:rPr>
                        <a:t>Nature</a:t>
                      </a:r>
                      <a:endParaRPr lang="en-US">
                        <a:effectLst/>
                        <a:latin typeface="Bahnschrift SemiCondensed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effectLst/>
                          <a:latin typeface="Bahnschrift SemiCondensed"/>
                        </a:rPr>
                        <a:t>Reactive (Flagging errors)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effectLst/>
                          <a:latin typeface="Bahnschrift SemiCondensed"/>
                        </a:rPr>
                        <a:t>Proactive (Preventing errors)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742207"/>
                  </a:ext>
                </a:extLst>
              </a:tr>
              <a:tr h="89834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effectLst/>
                          <a:latin typeface="Bahnschrift SemiCondensed"/>
                        </a:rPr>
                        <a:t>Accountability</a:t>
                      </a:r>
                      <a:endParaRPr lang="en-US">
                        <a:effectLst/>
                        <a:latin typeface="Bahnschrift SemiCondensed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effectLst/>
                          <a:latin typeface="Bahnschrift SemiCondensed"/>
                        </a:rPr>
                        <a:t>Human-only oversight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effectLst/>
                          <a:latin typeface="Bahnschrift SemiCondensed"/>
                        </a:rPr>
                        <a:t>Always-on Audit Trail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969722"/>
                  </a:ext>
                </a:extLst>
              </a:tr>
              <a:tr h="12542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effectLst/>
                          <a:latin typeface="Bahnschrift SemiCondensed"/>
                        </a:rPr>
                        <a:t>Integration</a:t>
                      </a:r>
                      <a:endParaRPr lang="en-US">
                        <a:effectLst/>
                        <a:latin typeface="Bahnschrift SemiCondensed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effectLst/>
                          <a:latin typeface="Bahnschrift SemiCondensed"/>
                        </a:rPr>
                        <a:t>Siloed application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effectLst/>
                          <a:latin typeface="Bahnschrift SemiCondensed"/>
                        </a:rPr>
                        <a:t>System-wide integration (via APIs)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840265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A8A8BC-8A35-828D-E286-06B0C8F81BB1}"/>
              </a:ext>
            </a:extLst>
          </p:cNvPr>
          <p:cNvSpPr/>
          <p:nvPr/>
        </p:nvSpPr>
        <p:spPr>
          <a:xfrm>
            <a:off x="396902" y="752761"/>
            <a:ext cx="5129842" cy="160494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  <a:latin typeface="Bahnschrift SemiCondensed"/>
            </a:endParaRPr>
          </a:p>
          <a:p>
            <a:pPr algn="ctr"/>
            <a:r>
              <a:rPr lang="en-US" b="1">
                <a:solidFill>
                  <a:schemeClr val="tx1"/>
                </a:solidFill>
                <a:latin typeface="Bahnschrift SemiCondensed"/>
              </a:rPr>
              <a:t> Agentic Regulatory Synchronization</a:t>
            </a:r>
            <a:endParaRPr lang="en-US">
              <a:solidFill>
                <a:schemeClr val="tx1"/>
              </a:solidFill>
              <a:latin typeface="Bahnschrift SemiCondensed"/>
            </a:endParaRPr>
          </a:p>
          <a:p>
            <a:pPr algn="ctr"/>
            <a:r>
              <a:rPr lang="en-US">
                <a:solidFill>
                  <a:schemeClr val="tx1"/>
                </a:solidFill>
                <a:latin typeface="Bahnschrift SemiCondensed"/>
                <a:ea typeface="+mn-lt"/>
                <a:cs typeface="+mn-lt"/>
              </a:rPr>
              <a:t>The solution is not a static tool, but an </a:t>
            </a:r>
            <a:r>
              <a:rPr lang="en-US" b="1">
                <a:solidFill>
                  <a:schemeClr val="tx1"/>
                </a:solidFill>
                <a:latin typeface="Bahnschrift SemiCondensed"/>
                <a:ea typeface="+mn-lt"/>
                <a:cs typeface="+mn-lt"/>
              </a:rPr>
              <a:t>Autonomous Compliance Loop</a:t>
            </a:r>
            <a:r>
              <a:rPr lang="en-US">
                <a:solidFill>
                  <a:schemeClr val="tx1"/>
                </a:solidFill>
                <a:latin typeface="Bahnschrift SemiCondensed"/>
                <a:ea typeface="+mn-lt"/>
                <a:cs typeface="+mn-lt"/>
              </a:rPr>
              <a:t>. It continuously bridges the gap between ever-changing global laws and your company's internal documents.</a:t>
            </a:r>
            <a:endParaRPr lang="en-US">
              <a:solidFill>
                <a:schemeClr val="tx1"/>
              </a:solidFill>
              <a:latin typeface="Bahnschrift SemiCondensed"/>
            </a:endParaRPr>
          </a:p>
          <a:p>
            <a:pPr algn="ctr"/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diagram of a company&amp;#39;s company&amp;#39;s company&amp;#39;s company&amp;#39;s company&amp;#39;s company&amp;#39;s company&amp;#39;s company&amp;#39;s company&amp;#39;s company&amp;#39;s company&amp;#39;s company&amp;#39;&#10;&#10;AI-generated content may be incorrect.">
            <a:extLst>
              <a:ext uri="{FF2B5EF4-FFF2-40B4-BE49-F238E27FC236}">
                <a16:creationId xmlns:a16="http://schemas.microsoft.com/office/drawing/2014/main" id="{43CA9711-F681-969E-7069-6CCEEB639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74" y="2563769"/>
            <a:ext cx="5828227" cy="380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85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F8B07-77C2-BC21-44D6-2715AA34C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489" y="156134"/>
            <a:ext cx="10515600" cy="585028"/>
          </a:xfrm>
        </p:spPr>
        <p:txBody>
          <a:bodyPr>
            <a:normAutofit/>
          </a:bodyPr>
          <a:lstStyle/>
          <a:p>
            <a:r>
              <a:rPr lang="en-IN" sz="2800" b="1">
                <a:latin typeface="Bahnschrift SemiCondensed"/>
                <a:ea typeface="Calibri Light"/>
                <a:cs typeface="Calibri Light"/>
              </a:rPr>
              <a:t>TECH STACK</a:t>
            </a:r>
            <a:endParaRPr lang="en-IN" sz="2800" b="1">
              <a:latin typeface="Bahnschrift SemiCondensed"/>
            </a:endParaRPr>
          </a:p>
        </p:txBody>
      </p:sp>
      <p:pic>
        <p:nvPicPr>
          <p:cNvPr id="5" name="Picture 4" descr="A computer screen with a snake logo on it&#10;&#10;AI-generated content may be incorrect.">
            <a:extLst>
              <a:ext uri="{FF2B5EF4-FFF2-40B4-BE49-F238E27FC236}">
                <a16:creationId xmlns:a16="http://schemas.microsoft.com/office/drawing/2014/main" id="{DA71E7CC-3DB1-64F5-6E7D-DEC262314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904" y="1604374"/>
            <a:ext cx="1447801" cy="1447801"/>
          </a:xfrm>
          <a:prstGeom prst="rect">
            <a:avLst/>
          </a:prstGeom>
        </p:spPr>
      </p:pic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AF107056-361A-91E2-1FB9-5235531D6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128" y="1746247"/>
            <a:ext cx="2423469" cy="863686"/>
          </a:xfrm>
          <a:prstGeom prst="rect">
            <a:avLst/>
          </a:prstGeom>
        </p:spPr>
      </p:pic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63D47D7A-6EB8-F611-F299-3CC8B34AF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638" y="1734767"/>
            <a:ext cx="2792886" cy="8575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7B4262-1004-B62C-6FB4-51DF0508BC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3409" y="3853916"/>
            <a:ext cx="1716691" cy="175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85064A-D9F1-CA13-0C01-ACB7BE6099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6452" y="3850002"/>
            <a:ext cx="1725479" cy="1764224"/>
          </a:xfrm>
          <a:prstGeom prst="rect">
            <a:avLst/>
          </a:prstGeom>
        </p:spPr>
      </p:pic>
      <p:pic>
        <p:nvPicPr>
          <p:cNvPr id="13" name="Picture 12" descr="A computer screen with a mouse pointer&#10;&#10;AI-generated content may be incorrect.">
            <a:extLst>
              <a:ext uri="{FF2B5EF4-FFF2-40B4-BE49-F238E27FC236}">
                <a16:creationId xmlns:a16="http://schemas.microsoft.com/office/drawing/2014/main" id="{C1E7AB57-6CD2-A95B-51C8-95E7A7CBA1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9962" y="3699225"/>
            <a:ext cx="1736124" cy="1787611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7D53127C-10FB-6878-7381-B627C59128C5}"/>
              </a:ext>
            </a:extLst>
          </p:cNvPr>
          <p:cNvSpPr/>
          <p:nvPr/>
        </p:nvSpPr>
        <p:spPr>
          <a:xfrm>
            <a:off x="2854975" y="2032650"/>
            <a:ext cx="1096198" cy="2882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45C4507-7DCC-AF57-0790-38ADA2B7FE53}"/>
              </a:ext>
            </a:extLst>
          </p:cNvPr>
          <p:cNvSpPr/>
          <p:nvPr/>
        </p:nvSpPr>
        <p:spPr>
          <a:xfrm>
            <a:off x="6961131" y="2034392"/>
            <a:ext cx="1096198" cy="29895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A861994-C471-0878-4B36-982B10CD4FB9}"/>
              </a:ext>
            </a:extLst>
          </p:cNvPr>
          <p:cNvSpPr/>
          <p:nvPr/>
        </p:nvSpPr>
        <p:spPr>
          <a:xfrm rot="10800000">
            <a:off x="7212036" y="4586670"/>
            <a:ext cx="1096198" cy="2882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0A827FF-9548-F4C0-80B3-099EBAFAD368}"/>
              </a:ext>
            </a:extLst>
          </p:cNvPr>
          <p:cNvSpPr/>
          <p:nvPr/>
        </p:nvSpPr>
        <p:spPr>
          <a:xfrm rot="5400000">
            <a:off x="9158370" y="3148674"/>
            <a:ext cx="1096198" cy="2882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1C27D94-25BD-D911-35F2-9B1FDD35F40E}"/>
              </a:ext>
            </a:extLst>
          </p:cNvPr>
          <p:cNvSpPr/>
          <p:nvPr/>
        </p:nvSpPr>
        <p:spPr>
          <a:xfrm rot="10800000">
            <a:off x="3400297" y="4585220"/>
            <a:ext cx="1310845" cy="40627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A7557-ECE3-D4A6-C602-A519D7F94496}"/>
              </a:ext>
            </a:extLst>
          </p:cNvPr>
          <p:cNvSpPr txBox="1"/>
          <p:nvPr/>
        </p:nvSpPr>
        <p:spPr>
          <a:xfrm>
            <a:off x="870447" y="880046"/>
            <a:ext cx="2326451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Bahnschrift SemiCondensed"/>
                <a:ea typeface="+mn-lt"/>
                <a:cs typeface="+mn-lt"/>
              </a:rPr>
              <a:t>Orchestration - </a:t>
            </a:r>
            <a:r>
              <a:rPr lang="en-US" b="1">
                <a:latin typeface="Bahnschrift SemiCondensed"/>
                <a:ea typeface="+mn-lt"/>
                <a:cs typeface="+mn-lt"/>
              </a:rPr>
              <a:t>Lang Graph (Python)</a:t>
            </a:r>
            <a:endParaRPr lang="en-US">
              <a:latin typeface="Bahnschrift SemiCondensed"/>
              <a:ea typeface="+mn-lt"/>
              <a:cs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4CECE3-1E0D-B85A-277B-B859D89E153E}"/>
              </a:ext>
            </a:extLst>
          </p:cNvPr>
          <p:cNvSpPr txBox="1"/>
          <p:nvPr/>
        </p:nvSpPr>
        <p:spPr>
          <a:xfrm>
            <a:off x="4455066" y="1041032"/>
            <a:ext cx="280940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Bahnschrift SemiCondensed"/>
                <a:ea typeface="+mn-lt"/>
                <a:cs typeface="+mn-lt"/>
              </a:rPr>
              <a:t>Vision (The Eyes) - Gemini 1.5 Pro</a:t>
            </a:r>
            <a:endParaRPr lang="en-US">
              <a:latin typeface="Bahnschrift SemiCondensed"/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39D4EE-E616-A30C-A1ED-0C7411163A84}"/>
              </a:ext>
            </a:extLst>
          </p:cNvPr>
          <p:cNvSpPr txBox="1"/>
          <p:nvPr/>
        </p:nvSpPr>
        <p:spPr>
          <a:xfrm>
            <a:off x="8447517" y="1159088"/>
            <a:ext cx="280940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Bahnschrift SemiCondensed"/>
                <a:ea typeface="+mn-lt"/>
                <a:cs typeface="+mn-lt"/>
              </a:rPr>
              <a:t>Research (The Brain)</a:t>
            </a:r>
            <a:endParaRPr lang="en-US">
              <a:latin typeface="Bahnschrift SemiCondense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160089-1B74-8C37-11AC-E611FC303DE4}"/>
              </a:ext>
            </a:extLst>
          </p:cNvPr>
          <p:cNvSpPr txBox="1"/>
          <p:nvPr/>
        </p:nvSpPr>
        <p:spPr>
          <a:xfrm>
            <a:off x="8683630" y="5613032"/>
            <a:ext cx="276647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Web Scraper</a:t>
            </a:r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D1A77A-6495-D9AE-E60F-6565F4238D37}"/>
              </a:ext>
            </a:extLst>
          </p:cNvPr>
          <p:cNvSpPr txBox="1"/>
          <p:nvPr/>
        </p:nvSpPr>
        <p:spPr>
          <a:xfrm>
            <a:off x="999235" y="5816947"/>
            <a:ext cx="234791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Bahnschrift SemiCondensed"/>
                <a:ea typeface="Calibri"/>
                <a:cs typeface="Calibri"/>
              </a:rPr>
              <a:t>Frontend - </a:t>
            </a:r>
            <a:r>
              <a:rPr lang="en-US" sz="2000" err="1">
                <a:latin typeface="Bahnschrift SemiCondensed"/>
                <a:ea typeface="+mn-lt"/>
                <a:cs typeface="+mn-lt"/>
              </a:rPr>
              <a:t>Streamlit</a:t>
            </a:r>
            <a:endParaRPr lang="en-US" err="1">
              <a:latin typeface="Bahnschrift SemiCondensed"/>
              <a:ea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241449-2211-A14C-EB71-B96BBAEE2A13}"/>
              </a:ext>
            </a:extLst>
          </p:cNvPr>
          <p:cNvSpPr txBox="1"/>
          <p:nvPr/>
        </p:nvSpPr>
        <p:spPr>
          <a:xfrm>
            <a:off x="4948756" y="5816947"/>
            <a:ext cx="280940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Database</a:t>
            </a:r>
            <a:endParaRPr lang="en-US"/>
          </a:p>
          <a:p>
            <a:endParaRPr lang="en-US" sz="2000" b="1">
              <a:latin typeface="Bahnschrift SemiCondensed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13153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2EC2A01-AAC6-DDA7-BE05-266B196878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6108546"/>
              </p:ext>
            </p:extLst>
          </p:nvPr>
        </p:nvGraphicFramePr>
        <p:xfrm>
          <a:off x="1452372" y="843598"/>
          <a:ext cx="8269224" cy="45660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FDF6D41-F187-3161-8103-1DDFEEBC49BD}"/>
              </a:ext>
            </a:extLst>
          </p:cNvPr>
          <p:cNvCxnSpPr>
            <a:cxnSpLocks/>
          </p:cNvCxnSpPr>
          <p:nvPr/>
        </p:nvCxnSpPr>
        <p:spPr>
          <a:xfrm flipV="1">
            <a:off x="6720840" y="1609344"/>
            <a:ext cx="1551432" cy="841885"/>
          </a:xfrm>
          <a:prstGeom prst="bentConnector3">
            <a:avLst>
              <a:gd name="adj1" fmla="val -1866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6F111F6-3710-9EDB-BD00-8CDFD91A0DF5}"/>
              </a:ext>
            </a:extLst>
          </p:cNvPr>
          <p:cNvSpPr txBox="1"/>
          <p:nvPr/>
        </p:nvSpPr>
        <p:spPr>
          <a:xfrm>
            <a:off x="8336280" y="380107"/>
            <a:ext cx="363931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>
                <a:solidFill>
                  <a:schemeClr val="accent6">
                    <a:lumMod val="75000"/>
                  </a:schemeClr>
                </a:solidFill>
                <a:latin typeface="Bahnschrift SemiCondensed" panose="020B0502040204020203" pitchFamily="34" charset="0"/>
              </a:rPr>
              <a:t>TECHNICAL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accent6">
                    <a:lumMod val="75000"/>
                  </a:schemeClr>
                </a:solidFill>
                <a:latin typeface="Bahnschrift SemiCondensed" panose="020B0502040204020203" pitchFamily="34" charset="0"/>
              </a:rPr>
              <a:t>LLM + RAG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accent6">
                    <a:lumMod val="75000"/>
                  </a:schemeClr>
                </a:solidFill>
                <a:latin typeface="Bahnschrift SemiCondensed" panose="020B0502040204020203" pitchFamily="34" charset="0"/>
              </a:rPr>
              <a:t>Document comparison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accent6">
                    <a:lumMod val="75000"/>
                  </a:schemeClr>
                </a:solidFill>
                <a:latin typeface="Bahnschrift SemiCondensed" panose="020B0502040204020203" pitchFamily="34" charset="0"/>
              </a:rPr>
              <a:t>Dashboard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accent6">
                    <a:lumMod val="75000"/>
                  </a:schemeClr>
                </a:solidFill>
                <a:latin typeface="Bahnschrift SemiCondensed" panose="020B0502040204020203" pitchFamily="34" charset="0"/>
              </a:rPr>
              <a:t>Draft generation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9532987-516E-3840-BF3D-60205AAB1DF4}"/>
              </a:ext>
            </a:extLst>
          </p:cNvPr>
          <p:cNvCxnSpPr>
            <a:cxnSpLocks/>
          </p:cNvCxnSpPr>
          <p:nvPr/>
        </p:nvCxnSpPr>
        <p:spPr>
          <a:xfrm>
            <a:off x="5734812" y="4801280"/>
            <a:ext cx="2247900" cy="1400501"/>
          </a:xfrm>
          <a:prstGeom prst="bentConnector3">
            <a:avLst>
              <a:gd name="adj1" fmla="val -441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3A68598-5265-49D1-82A1-640D00F364E8}"/>
              </a:ext>
            </a:extLst>
          </p:cNvPr>
          <p:cNvSpPr txBox="1"/>
          <p:nvPr/>
        </p:nvSpPr>
        <p:spPr>
          <a:xfrm>
            <a:off x="8272272" y="5280249"/>
            <a:ext cx="36393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>
                <a:solidFill>
                  <a:schemeClr val="accent5">
                    <a:lumMod val="50000"/>
                  </a:schemeClr>
                </a:solidFill>
                <a:latin typeface="Bahnschrift SemiCondensed" panose="020B0502040204020203" pitchFamily="34" charset="0"/>
              </a:rPr>
              <a:t>MARKET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accent5">
                    <a:lumMod val="50000"/>
                  </a:schemeClr>
                </a:solidFill>
                <a:latin typeface="Bahnschrift SemiCondensed" panose="020B0502040204020203" pitchFamily="34" charset="0"/>
              </a:rPr>
              <a:t>Clear regulatory pain in SMBs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accent5">
                    <a:lumMod val="50000"/>
                  </a:schemeClr>
                </a:solidFill>
                <a:latin typeface="Bahnschrift SemiCondensed" panose="020B0502040204020203" pitchFamily="34" charset="0"/>
              </a:rPr>
              <a:t>High Cost of non –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accent5">
                    <a:lumMod val="50000"/>
                  </a:schemeClr>
                </a:solidFill>
                <a:latin typeface="Bahnschrift SemiCondensed" panose="020B0502040204020203" pitchFamily="34" charset="0"/>
              </a:rPr>
              <a:t>Recurring SaaS model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B4258BDC-221C-38BF-B7C8-30288C14118E}"/>
              </a:ext>
            </a:extLst>
          </p:cNvPr>
          <p:cNvCxnSpPr>
            <a:cxnSpLocks/>
          </p:cNvCxnSpPr>
          <p:nvPr/>
        </p:nvCxnSpPr>
        <p:spPr>
          <a:xfrm rot="10800000">
            <a:off x="2273808" y="1568305"/>
            <a:ext cx="2340867" cy="701332"/>
          </a:xfrm>
          <a:prstGeom prst="bentConnector3">
            <a:avLst>
              <a:gd name="adj1" fmla="val 0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FC92A8A-D628-843F-B163-9798F5C40F15}"/>
              </a:ext>
            </a:extLst>
          </p:cNvPr>
          <p:cNvSpPr txBox="1"/>
          <p:nvPr/>
        </p:nvSpPr>
        <p:spPr>
          <a:xfrm>
            <a:off x="0" y="380108"/>
            <a:ext cx="363931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LEGAL AND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AI accuracy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Liability concerns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Data privacy concerns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Human approval layer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E71DAD37-75FD-8571-2D14-BAA5DB459A4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51177" y="3695676"/>
            <a:ext cx="1578871" cy="1315235"/>
          </a:xfrm>
          <a:prstGeom prst="bentConnector3">
            <a:avLst>
              <a:gd name="adj1" fmla="val 100386"/>
            </a:avLst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F314924-EF9B-7212-E717-96985B20CEEC}"/>
              </a:ext>
            </a:extLst>
          </p:cNvPr>
          <p:cNvSpPr txBox="1"/>
          <p:nvPr/>
        </p:nvSpPr>
        <p:spPr>
          <a:xfrm>
            <a:off x="129550" y="5214183"/>
            <a:ext cx="363931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>
                <a:solidFill>
                  <a:schemeClr val="accent4">
                    <a:lumMod val="50000"/>
                  </a:schemeClr>
                </a:solidFill>
                <a:latin typeface="Bahnschrift SemiCondensed" panose="020B0502040204020203" pitchFamily="34" charset="0"/>
              </a:rPr>
              <a:t>OPERATIONAL FEASIBILITY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accent4">
                    <a:lumMod val="50000"/>
                  </a:schemeClr>
                </a:solidFill>
                <a:latin typeface="Bahnschrift SemiCondensed" panose="020B0502040204020203" pitchFamily="34" charset="0"/>
              </a:rPr>
              <a:t>Easy onboarding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accent4">
                    <a:lumMod val="50000"/>
                  </a:schemeClr>
                </a:solidFill>
                <a:latin typeface="Bahnschrift SemiCondensed" panose="020B0502040204020203" pitchFamily="34" charset="0"/>
              </a:rPr>
              <a:t>No behavioural shift required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accent4">
                    <a:lumMod val="50000"/>
                  </a:schemeClr>
                </a:solidFill>
                <a:latin typeface="Bahnschrift SemiCondensed" panose="020B0502040204020203" pitchFamily="34" charset="0"/>
              </a:rPr>
              <a:t>No hardware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>
                <a:solidFill>
                  <a:schemeClr val="accent4">
                    <a:lumMod val="50000"/>
                  </a:schemeClr>
                </a:solidFill>
                <a:latin typeface="Bahnschrift SemiCondensed" panose="020B0502040204020203" pitchFamily="34" charset="0"/>
              </a:rPr>
              <a:t>Works as SaaS model</a:t>
            </a:r>
          </a:p>
          <a:p>
            <a:endParaRPr lang="en-IN" sz="1600">
              <a:solidFill>
                <a:schemeClr val="accent4">
                  <a:lumMod val="50000"/>
                </a:schemeClr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0BE4F6D-3D08-CC5D-1541-F1B87BA3F81A}"/>
              </a:ext>
            </a:extLst>
          </p:cNvPr>
          <p:cNvSpPr txBox="1"/>
          <p:nvPr/>
        </p:nvSpPr>
        <p:spPr>
          <a:xfrm>
            <a:off x="7732776" y="2770736"/>
            <a:ext cx="4178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Bahnschrift SemiCondensed" panose="020B0502040204020203" pitchFamily="34" charset="0"/>
              </a:rPr>
              <a:t>economically viable, and legally controlled</a:t>
            </a:r>
            <a:endParaRPr lang="en-IN">
              <a:latin typeface="Bahnschrift SemiCondensed" panose="020B0502040204020203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E263AA0-2439-70E2-1E9C-1FB7240C749B}"/>
              </a:ext>
            </a:extLst>
          </p:cNvPr>
          <p:cNvSpPr txBox="1"/>
          <p:nvPr/>
        </p:nvSpPr>
        <p:spPr>
          <a:xfrm>
            <a:off x="6104" y="2761821"/>
            <a:ext cx="4178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Bahnschrift SemiCondensed" panose="020B0502040204020203" pitchFamily="34" charset="0"/>
              </a:rPr>
              <a:t>ReguGuard AI is technically buildable,</a:t>
            </a:r>
            <a:endParaRPr lang="en-IN"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282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F3BBC8-6B7D-C168-D213-331CBBAF22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5124776"/>
              </p:ext>
            </p:extLst>
          </p:nvPr>
        </p:nvGraphicFramePr>
        <p:xfrm>
          <a:off x="1655064" y="1133856"/>
          <a:ext cx="8683753" cy="5529209"/>
        </p:xfrm>
        <a:graphic>
          <a:graphicData uri="http://schemas.openxmlformats.org/drawingml/2006/table">
            <a:tbl>
              <a:tblPr/>
              <a:tblGrid>
                <a:gridCol w="814102">
                  <a:extLst>
                    <a:ext uri="{9D8B030D-6E8A-4147-A177-3AD203B41FA5}">
                      <a16:colId xmlns:a16="http://schemas.microsoft.com/office/drawing/2014/main" val="2611714196"/>
                    </a:ext>
                  </a:extLst>
                </a:gridCol>
                <a:gridCol w="2217726">
                  <a:extLst>
                    <a:ext uri="{9D8B030D-6E8A-4147-A177-3AD203B41FA5}">
                      <a16:colId xmlns:a16="http://schemas.microsoft.com/office/drawing/2014/main" val="4185957921"/>
                    </a:ext>
                  </a:extLst>
                </a:gridCol>
                <a:gridCol w="1646918">
                  <a:extLst>
                    <a:ext uri="{9D8B030D-6E8A-4147-A177-3AD203B41FA5}">
                      <a16:colId xmlns:a16="http://schemas.microsoft.com/office/drawing/2014/main" val="1460683113"/>
                    </a:ext>
                  </a:extLst>
                </a:gridCol>
                <a:gridCol w="4005007">
                  <a:extLst>
                    <a:ext uri="{9D8B030D-6E8A-4147-A177-3AD203B41FA5}">
                      <a16:colId xmlns:a16="http://schemas.microsoft.com/office/drawing/2014/main" val="1202170027"/>
                    </a:ext>
                  </a:extLst>
                </a:gridCol>
              </a:tblGrid>
              <a:tr h="42249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 / CHALLENGE</a:t>
                      </a: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</a:t>
                      </a: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6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 STRATERGY</a:t>
                      </a:r>
                      <a:endParaRPr lang="en-IN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9336" marR="59336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178540"/>
                  </a:ext>
                </a:extLst>
              </a:tr>
              <a:tr h="10665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Legal Misinterpretation</a:t>
                      </a: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</a:t>
                      </a: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RAG with citations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 provide direct links to sources for human verification.</a:t>
                      </a:r>
                    </a:p>
                  </a:txBody>
                  <a:tcPr marL="59336" marR="59336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803983"/>
                  </a:ext>
                </a:extLst>
              </a:tr>
              <a:tr h="10665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Liability &amp; Accountability</a:t>
                      </a: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Position as </a:t>
                      </a: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"Decision Support"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 mandatory human review before any filing/action.</a:t>
                      </a:r>
                    </a:p>
                  </a:txBody>
                  <a:tcPr marL="59336" marR="59336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908409"/>
                  </a:ext>
                </a:extLst>
              </a:tr>
              <a:tr h="10665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Hallucinations</a:t>
                      </a: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Med-High</a:t>
                      </a: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Ground outputs in specific documents; implement </a:t>
                      </a: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Rule-Based Validation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checks.</a:t>
                      </a:r>
                    </a:p>
                  </a:txBody>
                  <a:tcPr marL="59336" marR="59336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201860"/>
                  </a:ext>
                </a:extLst>
              </a:tr>
              <a:tr h="8406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Privacy (SOPs)</a:t>
                      </a: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Zero-retention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policy; no training on user data; end-to-end encryption.</a:t>
                      </a:r>
                    </a:p>
                  </a:txBody>
                  <a:tcPr marL="59336" marR="59336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774236"/>
                  </a:ext>
                </a:extLst>
              </a:tr>
              <a:tr h="10665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Scope Creep (MVP)</a:t>
                      </a: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Critical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9336" marR="49447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Vertical focus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(e.g., Pharmacy); demonstrate deep value in one niche over shallow breadth.</a:t>
                      </a:r>
                    </a:p>
                  </a:txBody>
                  <a:tcPr marL="59336" marR="59336" marT="65929" marB="659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40531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3F6C2B7-4D64-A74E-6C94-BBE40A7335EB}"/>
              </a:ext>
            </a:extLst>
          </p:cNvPr>
          <p:cNvSpPr txBox="1"/>
          <p:nvPr/>
        </p:nvSpPr>
        <p:spPr>
          <a:xfrm>
            <a:off x="841248" y="283464"/>
            <a:ext cx="10195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>
                <a:solidFill>
                  <a:schemeClr val="accent5">
                    <a:lumMod val="50000"/>
                  </a:schemeClr>
                </a:solidFill>
                <a:latin typeface="Bahnschrift SemiCondensed" panose="020B0502040204020203" pitchFamily="34" charset="0"/>
              </a:rPr>
              <a:t>POTENTIAL CHALLENGES AND WAYS TO OVERCOME THEM</a:t>
            </a:r>
          </a:p>
        </p:txBody>
      </p:sp>
    </p:spTree>
    <p:extLst>
      <p:ext uri="{BB962C8B-B14F-4D97-AF65-F5344CB8AC3E}">
        <p14:creationId xmlns:p14="http://schemas.microsoft.com/office/powerpoint/2010/main" val="3190920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>
            <a:extLst>
              <a:ext uri="{FF2B5EF4-FFF2-40B4-BE49-F238E27FC236}">
                <a16:creationId xmlns:a16="http://schemas.microsoft.com/office/drawing/2014/main" id="{C0F4C2C2-45DF-2CF4-A6D3-F9135E3C73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6120" y="-132715"/>
            <a:ext cx="10515600" cy="13255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3600" b="1">
                <a:latin typeface="Bahnschrift SemiBold" panose="020B0502040204020203" pitchFamily="34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IN" sz="3600">
              <a:latin typeface="Bahnschrift SemiBold" panose="020B0502040204020203" pitchFamily="34" charset="0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DA4A1AD7-CFE5-C891-9D6C-718CAAF0A77E}"/>
              </a:ext>
            </a:extLst>
          </p:cNvPr>
          <p:cNvSpPr txBox="1"/>
          <p:nvPr/>
        </p:nvSpPr>
        <p:spPr>
          <a:xfrm>
            <a:off x="1242219" y="1192848"/>
            <a:ext cx="3827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r>
              <a:rPr lang="en-IN" sz="2400">
                <a:solidFill>
                  <a:srgbClr val="002060"/>
                </a:solidFill>
                <a:latin typeface="Bahnschrift SemiBold" panose="020B0502040204020203" pitchFamily="34" charset="0"/>
              </a:rPr>
              <a:t>POTENTIAL IMPACTS: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336A0C-8CC5-E282-BDD1-F24CD497C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88" y="1779014"/>
            <a:ext cx="1201062" cy="12010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52E026-B9AB-C544-6C5A-BC234EAD7CFB}"/>
              </a:ext>
            </a:extLst>
          </p:cNvPr>
          <p:cNvSpPr txBox="1"/>
          <p:nvPr/>
        </p:nvSpPr>
        <p:spPr>
          <a:xfrm>
            <a:off x="2113280" y="1769868"/>
            <a:ext cx="2926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>
                    <a:lumMod val="50000"/>
                  </a:schemeClr>
                </a:solidFill>
                <a:latin typeface="Bahnschrift SemiCondensed" panose="020B0502040204020203" pitchFamily="34" charset="0"/>
              </a:rPr>
              <a:t>Reduction in missed regulatory updates, preventing up to ₹5–10L in annual penalty exposure per SMB.</a:t>
            </a:r>
            <a:endParaRPr lang="en-IN">
              <a:solidFill>
                <a:schemeClr val="accent2">
                  <a:lumMod val="50000"/>
                </a:schemeClr>
              </a:solidFill>
              <a:latin typeface="Bahnschrift SemiCondensed" panose="020B0502040204020203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A85B754-76CF-515A-1763-5AA68D0A8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F49F21-CF14-F048-2371-5B1EFCEA25B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" y="3139133"/>
            <a:ext cx="1376030" cy="14775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2C5BF4-ABAD-CE0C-F0FD-0BA94F3A7B58}"/>
              </a:ext>
            </a:extLst>
          </p:cNvPr>
          <p:cNvSpPr txBox="1"/>
          <p:nvPr/>
        </p:nvSpPr>
        <p:spPr>
          <a:xfrm>
            <a:off x="2113280" y="3322013"/>
            <a:ext cx="2926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4">
                    <a:lumMod val="50000"/>
                  </a:schemeClr>
                </a:solidFill>
                <a:latin typeface="Bahnschrift SemiCondensed" panose="020B0502040204020203" pitchFamily="34" charset="0"/>
              </a:rPr>
              <a:t>Automated compliance gap detection, reducing manual review time by </a:t>
            </a:r>
            <a:r>
              <a:rPr lang="en-US" b="1">
                <a:solidFill>
                  <a:schemeClr val="accent4">
                    <a:lumMod val="50000"/>
                  </a:schemeClr>
                </a:solidFill>
                <a:latin typeface="Bahnschrift SemiCondensed" panose="020B0502040204020203" pitchFamily="34" charset="0"/>
              </a:rPr>
              <a:t>60–70%.</a:t>
            </a:r>
            <a:endParaRPr lang="en-IN">
              <a:solidFill>
                <a:schemeClr val="accent4">
                  <a:lumMod val="50000"/>
                </a:schemeClr>
              </a:solidFill>
              <a:latin typeface="Bahnschrift SemiCondensed" panose="020B05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80D3D8C-7C64-B8D2-3095-22C3A3890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40" y="4749210"/>
            <a:ext cx="1565670" cy="150154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B73A567-C682-36A4-637A-BDC5EAE16CCC}"/>
              </a:ext>
            </a:extLst>
          </p:cNvPr>
          <p:cNvSpPr txBox="1"/>
          <p:nvPr/>
        </p:nvSpPr>
        <p:spPr>
          <a:xfrm>
            <a:off x="2113280" y="4828028"/>
            <a:ext cx="2926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Real-time regulatory monitoring, cutting compliance response time from weeks to minutes.</a:t>
            </a:r>
            <a:endParaRPr lang="en-IN">
              <a:solidFill>
                <a:schemeClr val="accent6">
                  <a:lumMod val="50000"/>
                </a:schemeClr>
              </a:solidFill>
              <a:latin typeface="Bahnschrift SemiCondensed" panose="020B0502040204020203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CB95EFA-941B-85FD-A617-3BE1A62B7858}"/>
              </a:ext>
            </a:extLst>
          </p:cNvPr>
          <p:cNvCxnSpPr>
            <a:stCxn id="4" idx="2"/>
          </p:cNvCxnSpPr>
          <p:nvPr/>
        </p:nvCxnSpPr>
        <p:spPr>
          <a:xfrm>
            <a:off x="5963920" y="1192848"/>
            <a:ext cx="0" cy="5167312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1">
            <a:extLst>
              <a:ext uri="{FF2B5EF4-FFF2-40B4-BE49-F238E27FC236}">
                <a16:creationId xmlns:a16="http://schemas.microsoft.com/office/drawing/2014/main" id="{0A32F4C3-0580-8C01-9FB2-EAE5009AFEB3}"/>
              </a:ext>
            </a:extLst>
          </p:cNvPr>
          <p:cNvSpPr txBox="1"/>
          <p:nvPr/>
        </p:nvSpPr>
        <p:spPr>
          <a:xfrm>
            <a:off x="7277199" y="1192848"/>
            <a:ext cx="3827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r>
              <a:rPr lang="en-IN" sz="2400">
                <a:solidFill>
                  <a:srgbClr val="002060"/>
                </a:solidFill>
                <a:latin typeface="Bahnschrift SemiBold" panose="020B0502040204020203" pitchFamily="34" charset="0"/>
              </a:rPr>
              <a:t>CORE BENEFITS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B5B7738-057E-7B63-690F-401132A628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081" y="1739081"/>
            <a:ext cx="1783585" cy="158293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BA33A8-09EF-80DA-69D9-36860EA791AC}"/>
              </a:ext>
            </a:extLst>
          </p:cNvPr>
          <p:cNvSpPr txBox="1"/>
          <p:nvPr/>
        </p:nvSpPr>
        <p:spPr>
          <a:xfrm>
            <a:off x="8178740" y="1930382"/>
            <a:ext cx="2926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4">
                    <a:lumMod val="50000"/>
                  </a:schemeClr>
                </a:solidFill>
                <a:latin typeface="Bahnschrift SemiCondensed" panose="020B0502040204020203" pitchFamily="34" charset="0"/>
              </a:rPr>
              <a:t>SMBs spend less time checking government portals and more time focusing on core operations.</a:t>
            </a:r>
            <a:endParaRPr lang="en-IN">
              <a:solidFill>
                <a:schemeClr val="accent4">
                  <a:lumMod val="50000"/>
                </a:schemeClr>
              </a:solidFill>
              <a:latin typeface="Bahnschrift SemiCondensed" panose="020B0502040204020203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0F55E8C-51BC-B0AB-DC15-121B7A3421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362" y="3226905"/>
            <a:ext cx="1505936" cy="152230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28C4339-2715-3084-1DC1-A72299E5EC3B}"/>
              </a:ext>
            </a:extLst>
          </p:cNvPr>
          <p:cNvSpPr txBox="1"/>
          <p:nvPr/>
        </p:nvSpPr>
        <p:spPr>
          <a:xfrm>
            <a:off x="8178740" y="3599012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6">
                    <a:lumMod val="50000"/>
                  </a:schemeClr>
                </a:solidFill>
                <a:latin typeface="Bahnschrift SemiCondensed" panose="020B0502040204020203" pitchFamily="34" charset="0"/>
              </a:rPr>
              <a:t>Detects SOP mismatches before inspections or audits.</a:t>
            </a:r>
            <a:endParaRPr lang="en-IN">
              <a:solidFill>
                <a:schemeClr val="accent6">
                  <a:lumMod val="50000"/>
                </a:schemeClr>
              </a:solidFill>
              <a:latin typeface="Bahnschrift SemiCondensed" panose="020B0502040204020203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26B4C35-7497-FF29-055E-52012D747C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4681287"/>
            <a:ext cx="1915665" cy="181647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50F6A8F-091F-6A52-EA5D-05844719A9BE}"/>
              </a:ext>
            </a:extLst>
          </p:cNvPr>
          <p:cNvSpPr txBox="1"/>
          <p:nvPr/>
        </p:nvSpPr>
        <p:spPr>
          <a:xfrm>
            <a:off x="8011665" y="5064987"/>
            <a:ext cx="2926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5">
                    <a:lumMod val="75000"/>
                  </a:schemeClr>
                </a:solidFill>
                <a:latin typeface="Bahnschrift SemiCondensed" panose="020B0502040204020203" pitchFamily="34" charset="0"/>
              </a:rPr>
              <a:t>Same architecture adaptable to pharmacies, food manufacturing, fintech, legal firms.</a:t>
            </a:r>
            <a:endParaRPr lang="en-IN">
              <a:solidFill>
                <a:schemeClr val="accent5">
                  <a:lumMod val="75000"/>
                </a:schemeClr>
              </a:solidFill>
              <a:latin typeface="Bahnschrif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657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EB236D-CF5D-82D4-02AC-8B864A9DD7C0}"/>
              </a:ext>
            </a:extLst>
          </p:cNvPr>
          <p:cNvSpPr txBox="1"/>
          <p:nvPr/>
        </p:nvSpPr>
        <p:spPr>
          <a:xfrm>
            <a:off x="3048000" y="48081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>
                <a:latin typeface="Bahnschrift SemiBold" panose="020B0502040204020203" pitchFamily="34" charset="0"/>
                <a:ea typeface="ＭＳ Ｐゴシック" pitchFamily="1" charset="-128"/>
                <a:cs typeface="Times New Roman" panose="02020603050405020304" pitchFamily="18" charset="0"/>
              </a:rPr>
              <a:t>REFERENCES</a:t>
            </a:r>
            <a:endParaRPr lang="en-IN" sz="3600">
              <a:latin typeface="Bahnschrift SemiBol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1EEEB0-E3C4-3A91-810D-4D93389BE7F3}"/>
              </a:ext>
            </a:extLst>
          </p:cNvPr>
          <p:cNvSpPr txBox="1"/>
          <p:nvPr/>
        </p:nvSpPr>
        <p:spPr>
          <a:xfrm>
            <a:off x="152400" y="1442720"/>
            <a:ext cx="11887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latin typeface="Book Antiqua" panose="02040602050305030304" pitchFamily="18" charset="0"/>
              </a:rPr>
              <a:t>Joswig</a:t>
            </a:r>
            <a:r>
              <a:rPr lang="en-US">
                <a:latin typeface="Book Antiqua" panose="02040602050305030304" pitchFamily="18" charset="0"/>
              </a:rPr>
              <a:t>, T., &amp; Kurz, W. (2025). Regulatory and compliance requirements for SMEs operating AI systems through data centers in the EU, with a focus on data protection challenges in Germany. </a:t>
            </a:r>
            <a:r>
              <a:rPr lang="en-US" i="1">
                <a:latin typeface="Book Antiqua" panose="02040602050305030304" pitchFamily="18" charset="0"/>
              </a:rPr>
              <a:t>Journal of Next-Generation Research 5.0</a:t>
            </a:r>
            <a:r>
              <a:rPr lang="en-US">
                <a:latin typeface="Book Antiqua" panose="02040602050305030304" pitchFamily="18" charset="0"/>
              </a:rPr>
              <a:t>, </a:t>
            </a:r>
            <a:r>
              <a:rPr lang="en-US" i="1">
                <a:latin typeface="Book Antiqua" panose="02040602050305030304" pitchFamily="18" charset="0"/>
              </a:rPr>
              <a:t>1</a:t>
            </a:r>
            <a:r>
              <a:rPr lang="en-US">
                <a:latin typeface="Book Antiqua" panose="02040602050305030304" pitchFamily="18" charset="0"/>
              </a:rPr>
              <a:t>(2). </a:t>
            </a:r>
            <a:r>
              <a:rPr lang="en-US">
                <a:latin typeface="Book Antiqua" panose="02040602050305030304" pitchFamily="18" charset="0"/>
                <a:hlinkClick r:id="rId2"/>
              </a:rPr>
              <a:t>https://doi.org/10.70792/jngr5.0.v1i2.89</a:t>
            </a:r>
            <a:endParaRPr lang="en-US">
              <a:latin typeface="Book Antiqua" panose="02040602050305030304" pitchFamily="18" charset="0"/>
            </a:endParaRPr>
          </a:p>
          <a:p>
            <a:endParaRPr lang="en-US">
              <a:latin typeface="Book Antiqua" panose="02040602050305030304" pitchFamily="18" charset="0"/>
            </a:endParaRPr>
          </a:p>
          <a:p>
            <a:r>
              <a:rPr lang="en-IN">
                <a:latin typeface="Book Antiqua" panose="02040602050305030304" pitchFamily="18" charset="0"/>
              </a:rPr>
              <a:t>Khara, S., &amp; Yadav, S. (2024). The legal liability of AI systems in India. </a:t>
            </a:r>
            <a:r>
              <a:rPr lang="en-IN" i="1" err="1">
                <a:latin typeface="Book Antiqua" panose="02040602050305030304" pitchFamily="18" charset="0"/>
              </a:rPr>
              <a:t>Alochana</a:t>
            </a:r>
            <a:r>
              <a:rPr lang="en-IN" i="1">
                <a:latin typeface="Book Antiqua" panose="02040602050305030304" pitchFamily="18" charset="0"/>
              </a:rPr>
              <a:t> Journal</a:t>
            </a:r>
            <a:r>
              <a:rPr lang="en-IN">
                <a:latin typeface="Book Antiqua" panose="02040602050305030304" pitchFamily="18" charset="0"/>
              </a:rPr>
              <a:t>, </a:t>
            </a:r>
            <a:r>
              <a:rPr lang="en-IN" i="1">
                <a:latin typeface="Book Antiqua" panose="02040602050305030304" pitchFamily="18" charset="0"/>
              </a:rPr>
              <a:t>13</a:t>
            </a:r>
            <a:r>
              <a:rPr lang="en-IN">
                <a:latin typeface="Book Antiqua" panose="02040602050305030304" pitchFamily="18" charset="0"/>
              </a:rPr>
              <a:t>(5), 448-452. </a:t>
            </a:r>
            <a:r>
              <a:rPr lang="en-IN">
                <a:latin typeface="Book Antiqua" panose="02040602050305030304" pitchFamily="18" charset="0"/>
                <a:hlinkClick r:id="rId3"/>
              </a:rPr>
              <a:t>https://alochana.org/wp-content/uploads/37-AJ2451.pdf</a:t>
            </a:r>
            <a:endParaRPr lang="en-IN">
              <a:latin typeface="Book Antiqua" panose="02040602050305030304" pitchFamily="18" charset="0"/>
            </a:endParaRPr>
          </a:p>
          <a:p>
            <a:endParaRPr lang="en-IN">
              <a:latin typeface="Book Antiqua" panose="02040602050305030304" pitchFamily="18" charset="0"/>
            </a:endParaRPr>
          </a:p>
          <a:p>
            <a:r>
              <a:rPr lang="en-IN">
                <a:latin typeface="Book Antiqua" panose="02040602050305030304" pitchFamily="18" charset="0"/>
              </a:rPr>
              <a:t>Lee, Z. P., Lin, A., &amp; Tan, C. (2025). Finetune-RAG: Fine-tuning language models to resist hallucination in retrieval-augmented generation. </a:t>
            </a:r>
            <a:r>
              <a:rPr lang="en-IN" i="1" err="1">
                <a:latin typeface="Book Antiqua" panose="02040602050305030304" pitchFamily="18" charset="0"/>
              </a:rPr>
              <a:t>arXiv</a:t>
            </a:r>
            <a:r>
              <a:rPr lang="en-IN">
                <a:latin typeface="Book Antiqua" panose="02040602050305030304" pitchFamily="18" charset="0"/>
              </a:rPr>
              <a:t>. </a:t>
            </a:r>
            <a:r>
              <a:rPr lang="en-IN">
                <a:latin typeface="Book Antiqua" panose="02040602050305030304" pitchFamily="18" charset="0"/>
                <a:hlinkClick r:id="rId4"/>
              </a:rPr>
              <a:t>https://doi.org/10.48550/arxiv.2505.10792</a:t>
            </a:r>
            <a:endParaRPr lang="en-IN">
              <a:latin typeface="Book Antiqua" panose="02040602050305030304" pitchFamily="18" charset="0"/>
            </a:endParaRPr>
          </a:p>
          <a:p>
            <a:endParaRPr lang="en-IN">
              <a:latin typeface="Book Antiqua" panose="02040602050305030304" pitchFamily="18" charset="0"/>
            </a:endParaRPr>
          </a:p>
          <a:p>
            <a:r>
              <a:rPr lang="en-IN">
                <a:latin typeface="Book Antiqua" panose="02040602050305030304" pitchFamily="18" charset="0"/>
              </a:rPr>
              <a:t>Li, J., &amp; Maiti, A. (2025). Applying large language model analysis and backend web services in regulatory technologies for continuous compliance checks. </a:t>
            </a:r>
            <a:r>
              <a:rPr lang="en-IN" i="1">
                <a:latin typeface="Book Antiqua" panose="02040602050305030304" pitchFamily="18" charset="0"/>
              </a:rPr>
              <a:t>Future Internet</a:t>
            </a:r>
            <a:r>
              <a:rPr lang="en-IN">
                <a:latin typeface="Book Antiqua" panose="02040602050305030304" pitchFamily="18" charset="0"/>
              </a:rPr>
              <a:t>, </a:t>
            </a:r>
            <a:r>
              <a:rPr lang="en-IN" i="1">
                <a:latin typeface="Book Antiqua" panose="02040602050305030304" pitchFamily="18" charset="0"/>
              </a:rPr>
              <a:t>17</a:t>
            </a:r>
            <a:r>
              <a:rPr lang="en-IN">
                <a:latin typeface="Book Antiqua" panose="02040602050305030304" pitchFamily="18" charset="0"/>
              </a:rPr>
              <a:t>(3), 100. </a:t>
            </a:r>
            <a:r>
              <a:rPr lang="en-IN">
                <a:latin typeface="Book Antiqua" panose="02040602050305030304" pitchFamily="18" charset="0"/>
                <a:hlinkClick r:id="rId5"/>
              </a:rPr>
              <a:t>https://doi.org/10.3390/fi17030100</a:t>
            </a:r>
            <a:endParaRPr lang="en-IN">
              <a:latin typeface="Book Antiqua" panose="02040602050305030304" pitchFamily="18" charset="0"/>
            </a:endParaRPr>
          </a:p>
          <a:p>
            <a:endParaRPr lang="en-IN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924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702</Words>
  <Application>Microsoft Office PowerPoint</Application>
  <PresentationFormat>Widescreen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Bahnschrift Light SemiCondensed</vt:lpstr>
      <vt:lpstr>Bahnschrift SemiBold</vt:lpstr>
      <vt:lpstr>Bahnschrift SemiCondensed</vt:lpstr>
      <vt:lpstr>Book Antiqua</vt:lpstr>
      <vt:lpstr>Calibri</vt:lpstr>
      <vt:lpstr>Calibri Light</vt:lpstr>
      <vt:lpstr>Office Theme</vt:lpstr>
      <vt:lpstr>ReguGuard AI</vt:lpstr>
      <vt:lpstr>The problem - The "Compliance Debt"</vt:lpstr>
      <vt:lpstr>SOLUTION </vt:lpstr>
      <vt:lpstr>TECH STACK</vt:lpstr>
      <vt:lpstr>PowerPoint Presentation</vt:lpstr>
      <vt:lpstr>PowerPoint Presentation</vt:lpstr>
      <vt:lpstr>IMPACT AND BENEFITS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Charulatha M</dc:creator>
  <cp:lastModifiedBy>BALABOMMU HASINI-[CH.SC.U4CSE24010]</cp:lastModifiedBy>
  <cp:revision>23</cp:revision>
  <dcterms:created xsi:type="dcterms:W3CDTF">2026-02-12T12:04:36Z</dcterms:created>
  <dcterms:modified xsi:type="dcterms:W3CDTF">2026-02-13T03:48:09Z</dcterms:modified>
</cp:coreProperties>
</file>